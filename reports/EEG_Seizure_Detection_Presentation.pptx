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00fa6e5-bb3c-5a33-fa0f-212b0a49c740}">
          <p14:sldIdLst>
            <p14:sldId id="256"/>
            <p14:sldId id="257"/>
            <p14:sldId id="258"/>
          </p14:sldIdLst>
        </p14:section>
        <p14:section name="Data and exploration" id="{a2f86b99-dc2a-c322-4685-84e58814275c}">
          <p14:sldIdLst>
            <p14:sldId id="259"/>
            <p14:sldId id="260"/>
            <p14:sldId id="261"/>
          </p14:sldIdLst>
        </p14:section>
        <p14:section name="Features" id="{602f8c63-b51b-322d-7092-c49d92d7f1b5}">
          <p14:sldIdLst>
            <p14:sldId id="262"/>
            <p14:sldId id="263"/>
          </p14:sldIdLst>
        </p14:section>
        <p14:section name="Models" id="{a6c002f8-e994-5172-6067-49338a2b8614}">
          <p14:sldIdLst>
            <p14:sldId id="264"/>
            <p14:sldId id="265"/>
          </p14:sldIdLst>
        </p14:section>
        <p14:section name="Results" id="{7c22ceac-a960-73e4-9900-19c06dd6c598}">
          <p14:sldIdLst>
            <p14:sldId id="266"/>
            <p14:sldId id="267"/>
            <p14:sldId id="268"/>
            <p14:sldId id="269"/>
          </p14:sldIdLst>
        </p14:section>
        <p14:section name="Conclusion" id="{4c12e045-487a-a4ab-bb4e-363ddbcf3012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bubble3D val="0"/>
            <c:spPr>
              <a:solidFill>
                <a:srgbClr val="EB683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2232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2232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Class 0, no seizure</c:v>
                </c:pt>
                <c:pt idx="1">
                  <c:v>Class 1, seizure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96.7</c:v>
                </c:pt>
                <c:pt idx="1">
                  <c:v>3.3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22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B6E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Beta power</c:v>
                  </c:pt>
                  <c:pt idx="1">
                    <c:v>Theta power</c:v>
                  </c:pt>
                  <c:pt idx="2">
                    <c:v>Alpha power</c:v>
                  </c:pt>
                  <c:pt idx="3">
                    <c:v>Delta power</c:v>
                  </c:pt>
                  <c:pt idx="4">
                    <c:v>Amplitude</c:v>
                  </c:pt>
                  <c:pt idx="5">
                    <c:v>Std</c:v>
                  </c:pt>
                  <c:pt idx="6">
                    <c:v>Energy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0.95</c:v>
                </c:pt>
                <c:pt idx="1">
                  <c:v>0.95</c:v>
                </c:pt>
                <c:pt idx="2">
                  <c:v>0.94</c:v>
                </c:pt>
                <c:pt idx="3">
                  <c:v>0.92</c:v>
                </c:pt>
                <c:pt idx="4">
                  <c:v>0.89</c:v>
                </c:pt>
                <c:pt idx="5">
                  <c:v>0.83</c:v>
                </c:pt>
                <c:pt idx="6">
                  <c:v>0.59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2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32E"/>
                </a:solidFill>
                <a:latin typeface="+mn-lt"/>
              </a:rPr>
              <a:t>Seizure class, 4 test recordings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Decision Tree</c:v>
                  </c:pt>
                  <c:pt idx="1">
                    <c:v>Random Forest</c:v>
                  </c:pt>
                  <c:pt idx="2">
                    <c:v>KNN</c:v>
                  </c:pt>
                  <c:pt idx="3">
                    <c:v>SVM</c:v>
                  </c:pt>
                  <c:pt idx="4">
                    <c:v>1D-CNN</c:v>
                  </c:pt>
                  <c:pt idx="5">
                    <c:v>LSTM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0.896</c:v>
                </c:pt>
                <c:pt idx="1">
                  <c:v>0.939</c:v>
                </c:pt>
                <c:pt idx="2">
                  <c:v>0.925</c:v>
                </c:pt>
                <c:pt idx="3">
                  <c:v>0.571</c:v>
                </c:pt>
                <c:pt idx="4">
                  <c:v>0.887</c:v>
                </c:pt>
                <c:pt idx="5">
                  <c:v>0.838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6B77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Decision Tree</c:v>
                  </c:pt>
                  <c:pt idx="1">
                    <c:v>Random Forest</c:v>
                  </c:pt>
                  <c:pt idx="2">
                    <c:v>KNN</c:v>
                  </c:pt>
                  <c:pt idx="3">
                    <c:v>SVM</c:v>
                  </c:pt>
                  <c:pt idx="4">
                    <c:v>1D-CNN</c:v>
                  </c:pt>
                  <c:pt idx="5">
                    <c:v>LSTM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0.449</c:v>
                </c:pt>
                <c:pt idx="1">
                  <c:v>0.582</c:v>
                </c:pt>
                <c:pt idx="2">
                  <c:v>0.504</c:v>
                </c:pt>
                <c:pt idx="3">
                  <c:v>0.712</c:v>
                </c:pt>
                <c:pt idx="4">
                  <c:v>0.481</c:v>
                </c:pt>
                <c:pt idx="5">
                  <c:v>0.644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Decision Tree</c:v>
                  </c:pt>
                  <c:pt idx="1">
                    <c:v>Random Forest</c:v>
                  </c:pt>
                  <c:pt idx="2">
                    <c:v>KNN</c:v>
                  </c:pt>
                  <c:pt idx="3">
                    <c:v>SVM</c:v>
                  </c:pt>
                  <c:pt idx="4">
                    <c:v>1D-CNN</c:v>
                  </c:pt>
                  <c:pt idx="5">
                    <c:v>LSTM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0.598</c:v>
                </c:pt>
                <c:pt idx="1">
                  <c:v>0.718</c:v>
                </c:pt>
                <c:pt idx="2">
                  <c:v>0.652</c:v>
                </c:pt>
                <c:pt idx="3">
                  <c:v>0.634</c:v>
                </c:pt>
                <c:pt idx="4">
                  <c:v>0.624</c:v>
                </c:pt>
                <c:pt idx="5">
                  <c:v>0.728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2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E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22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32E"/>
                </a:solidFill>
                <a:latin typeface="+mn-lt"/>
              </a:rPr>
              <a:t>Wrong 1-second windows per test recording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positives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210406A_F</c:v>
                  </c:pt>
                  <c:pt idx="1">
                    <c:v>210928B_B</c:v>
                  </c:pt>
                  <c:pt idx="2">
                    <c:v>211027B_C</c:v>
                  </c:pt>
                  <c:pt idx="3">
                    <c:v>230210B_D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0</c:v>
                </c:pt>
                <c:pt idx="2">
                  <c:v>154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False negatives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210406A_F</c:v>
                  </c:pt>
                  <c:pt idx="1">
                    <c:v>210928B_B</c:v>
                  </c:pt>
                  <c:pt idx="2">
                    <c:v>211027B_C</c:v>
                  </c:pt>
                  <c:pt idx="3">
                    <c:v>230210B_D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47</c:v>
                </c:pt>
                <c:pt idx="2">
                  <c:v>17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E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22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subject: detecting absence seizures automatically in EEG recordings, from the raw signal to the start and end time of each seizure.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shows four channels, six seconds before and after one seizure. The shaded zone is the annotated seizure: about three spikes per second, on every channel, starting and stopping abruptly.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row is the data preparation, done in our Streamlit application. The second row is the modelling, done with scripts so that every number can be regenerated.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22 recordings, 18 have fully valid annotations. Seizures occupy less than 4% of the time: the classes are very unbalanced. We checked every annotation against the duration of the signal, which is how we found the six-hour seizure.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Streamlit application answers Questions 1 to 8 for any recording. The sampling frequency is measured from the time column, not assumed. Visually, the raw trace is dominated by mains interference; the seizure pattern is visible when zooming.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4: seizures of one patient look alike, but durations vary a lot between patients. Question 6: the imbalance is strong, about 29 normal samples for one seizure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window is described by 12 features per EEG channel, 228 in total for 19 channels. The spectrum of a seizure window shows the 3 Hz discharge and its harmonic at 6 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10: band powers differ most between the classes. Question 11: RMS and Energy, and Std and Variance, are perfectly correlated, so they are redundant. The most discriminant features are the four band powers.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suggests a stratified 80/20 split. We kept the idea but applied it to whole recordings, because overlapping windows would leak between train and test. Balancing is applied to the training rows only; validation and test keep the real 4% of seizures.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trained the four requested models and added a 1D-CNN and an LSTM that look at five consecutive windows. Everything is selected on the validation recordings; the test recordings are scored once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is shown with its best training set, chosen on validation. The LSTM has the best F1-score, the Random Forest the best recall and it is almost as good overall. With only 12 test seizures, the gap between them is within the uncertainty that cross-validation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that never detects anything already has 96% accuracy. All our models are within three points of it, so accuracy cannot rank them. We select on F1-score and prefer recall, because missing a seizure is worse than a false alarm.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Consecutive positive windows are merged into intervals. A seizure is detected when a predicted interval overlaps it. Shaded zones are the real seizures, blue bars the predictions. All twelve are found; nine of twelve starts are within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 positives: 352 of 420 seizure windows. True negatives: 9,817 of 10,012. Most false positives come from one recording, and most false alarms are very short. False negatives shorten a detected seizure but never hide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gain compares the same four classical models before and after adding frequency features; the earlier run used a different test set, so it is indicative. The first proposed improvement was seen on the test set and deliberately not applied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chain works end to end, the key ingredients were frequency features and a leakage-free evaluation, and the result is a sensitive detector that still raises too many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87782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Automatic detection of absence seizures from EEG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Automatic Detection of Absence Seizures from EEG Signals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8778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Data Mining mini-project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National School of Engineering of Tunis (ENIT)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Yahya Houimdi  ·  Brahim Elmi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Class 3A Info 1  · 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seizure lasts seconds inside a 20-minute recording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 absence seizure is a brief loss of awareness, visible on the EEG as spikes and waves at about 3 Hz on all channels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Finding these episodes by eye is slow: a few seconds to locate in recordings of 20 to 60 minutes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a complete Data Mining chain, from the raw EEG to the start and end time of each seizure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binary classification problem: class 0 = no seizure, class 1 = seizure</a:t>
            </a:r>
            <a:endParaRPr lang="en-US" sz="1600" dirty="0"/>
          </a:p>
        </p:txBody>
      </p:sp>
      <p:pic>
        <p:nvPicPr>
          <p:cNvPr id="4" name="Four EEG channels around one seizure" descr="Four EEG channels around one seiz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883664"/>
            <a:ext cx="6035040" cy="3730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pipeline: from raw signal to seizure intervals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Explore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Load, measure, plot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187952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Annotate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423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Excel times to seconds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04304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Label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423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0 / 1 per sample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97696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0576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20656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Segment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423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s and 2 s windows, 50% overlap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Extract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54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temporal + 4 frequency features per channel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64992" y="38862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47872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4787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187952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Split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4754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Whole recordings: train, validation, test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81344" y="38862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64224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04304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Train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754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models on balanced training sets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97696" y="38862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80576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80576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820656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Reconstruct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9180576" y="4754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Merge windows into seizures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Steps 1 to 5: interactive Streamlit application.   Steps 5 to 8: reproducible Python pipeline with 40 automated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data: 18 usable recordings and 71 seizures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of 22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recordings with valid annotations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64992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h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EEG at 256 Hz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344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annotated seizures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7696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the time is seizure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4068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37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Only one annotation source is usable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h files list events but their time column is only a row number.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Annotations.xlsx gives real clock times, converted to seconds: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 = (event time − start of trace) × 86 400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3200400"/>
            <a:ext cx="5458968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64224" y="333756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Four recordings excluded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3749040"/>
            <a:ext cx="5093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 are missing from the annotation file.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has a seizure entered as lasting six hours in a 52-minute recording; it was left out rather than trained on with a wrong label.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Questions 1 and 2: exploring a recording</a:t>
            </a:r>
            <a:endParaRPr lang="en-US" sz="3200" dirty="0"/>
          </a:p>
        </p:txBody>
      </p:sp>
      <p:pic>
        <p:nvPicPr>
          <p:cNvPr id="3" name="Screenshot of the overview tab of the application" descr="Screenshot of the overview tab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764"/>
            <a:ext cx="6309360" cy="44165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Recording 211104B_D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20240"/>
          <a:ext cx="4416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96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309,760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Variables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 (Time, 19 EEG, SLI, ECG)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Sampling frequency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256 Hz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min 10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Missing values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4206240"/>
            <a:ext cx="4416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50 Hz interference and a slow drift dominate the raw signal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Seizures become clear only when zooming: 3 spikes per second on all channels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Questions 3 to 6: seizures are short and rare</a:t>
            </a:r>
            <a:endParaRPr lang="en-US" sz="3200" dirty="0"/>
          </a:p>
        </p:txBody>
      </p:sp>
      <p:pic>
        <p:nvPicPr>
          <p:cNvPr id="3" name="Histogram of seizure durations" descr="Histogram of seizure du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3870"/>
            <a:ext cx="5852160" cy="265297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Within one recording, durations are similar (6 to 10 s, CV 0.16)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Across recordings they are not: 3 to 49 s, median 11 s, CV 0.68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Class of each sample, recording 211104B_D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0" y="182880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0" y="4663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96.7% of samples are outside a seizure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Consequence: accuracy is misleading and the training data must be rebalanced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Questions 7 to 9: windows and 228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Windows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s = 512 samples, 50% overlap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1 if at least 50% is seizure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8 temporal features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Mean, Std, Variance, Min, Max, Amplitude, RMS, Energy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4 frequency features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20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FFT power in Delta, Theta, Alpha and Beta bands (0.5 to 30 Hz)</a:t>
            </a:r>
            <a:endParaRPr lang="en-US" sz="1400" dirty="0"/>
          </a:p>
        </p:txBody>
      </p:sp>
      <p:pic>
        <p:nvPicPr>
          <p:cNvPr id="12" name="A normal and a seizure window in time and frequency" descr="A normal and a seizure window in time and frequ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99032"/>
            <a:ext cx="7269480" cy="38770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389120" y="5440680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25,874 windows of 2 s: 24,873 normal and 1,001 seizure. The seizure window shows peaks at 3 Hz and 6 Hz.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Questions 10 and 11: band powers separate the classes</a:t>
            </a:r>
            <a:endParaRPr lang="en-US" sz="3200" dirty="0"/>
          </a:p>
        </p:txBody>
      </p:sp>
      <p:pic>
        <p:nvPicPr>
          <p:cNvPr id="3" name="Mean of each feature per class" descr="Mean of each feature per 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6068"/>
            <a:ext cx="6949440" cy="34115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Seizure windows have 1.4 to 4.2 times more power in every band; Energy and RMS barely change.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1463040"/>
            <a:ext cx="3776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How well does one feature alone separate the classes?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0" y="210312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534924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AUC of each feature used alone (0.5 = no information). Variance and Energy are exact duplicates of Std and RMS.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Split by recording, balance only the training 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Why not a random 80/20 split of windows?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Windows overlap by 50%. A random split puts near-copies of training windows in the test set and inflates every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720840" cy="11430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090672"/>
            <a:ext cx="6501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56432"/>
            <a:ext cx="650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11 recordings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46 seizures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24344" y="3017520"/>
            <a:ext cx="1792224" cy="114300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61504" y="30906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61504" y="3456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3 recordings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13 seizures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71432" y="3017520"/>
            <a:ext cx="2468880" cy="114300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08592" y="309067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308592" y="345643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4 recordings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12 seizures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Undersampling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983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0 reduced to the size of class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1,162 windows per class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443484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Oversampling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983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1 resampled up to the size of class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31,657 windows per class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4434840"/>
            <a:ext cx="3593592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457200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Hybrid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983480"/>
            <a:ext cx="3227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classes brought to the midpoint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16,409 windows per class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554480"/>
            <a:ext cx="5239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Validation chooses hyperparameters and thresholds.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test set is used once.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 12: six models, 36 training runs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03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Depth and leaf size searched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463040"/>
            <a:ext cx="2103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7180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300 trees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2103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KNN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to 21 neighbours, standardised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2103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SVM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11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RBF kernel, C searched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88920" y="3063240"/>
            <a:ext cx="2103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1D-CNN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611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Sequence of 5 windows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063240"/>
            <a:ext cx="2103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LSTM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611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Sequence of 5 windows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006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Four models requested by the assignment, plus two neural networks as an improvement. Each is trained on 2 window sizes × 3 balancing methods.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Selection procedure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1965960"/>
            <a:ext cx="40507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Fit on the balanced training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Choose the decision threshold that maximises F1 on 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Keep the candidate with the best validation F1 (recall breaks ties)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Score the test set once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Test results: the LSTM and the Random Forest lead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463040"/>
            <a:ext cx="33192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60020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3317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best F1-score: LSTM, 1 s windows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321040" y="3063240"/>
            <a:ext cx="33192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9319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best recall: Random Forest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663440"/>
            <a:ext cx="3319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Forest: most stable in cross-validation (F1 0.61 ± 0.08)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SVM: few false alarms but misses 43% of seizure windows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 13: accuracy says nothing here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accuracy of a model that always answers “no seizure”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to 98%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accuracy of all six models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Accuracy is dominated by the easy, numerous normal windows. The SVM has the second-best accuracy and the worst recall.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715975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600200"/>
            <a:ext cx="679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Recall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011680"/>
            <a:ext cx="679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missed seizure is the costly error: the event goes unrecorded.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3017520"/>
            <a:ext cx="715975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3154680"/>
            <a:ext cx="679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Precision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566160"/>
            <a:ext cx="679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false alarm costs the clinician time; too many and the detector is ignored.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4572000"/>
            <a:ext cx="715975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4709160"/>
            <a:ext cx="679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3. F1-score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5120640"/>
            <a:ext cx="679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Combines both and cannot be maximised by predicting one class. Our selection criterion, with recall to break 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Question 14: all 12 test seizures are found</a:t>
            </a:r>
            <a:endParaRPr lang="en-US" sz="3200" dirty="0"/>
          </a:p>
        </p:txBody>
      </p:sp>
      <p:pic>
        <p:nvPicPr>
          <p:cNvPr id="3" name="Annotated and predicted seizures on the four test recordings" descr="Annotated and predicted seizures on the four test recor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325880"/>
            <a:ext cx="5431536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463040"/>
            <a:ext cx="37764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0" y="160020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33172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seizures detected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3017520"/>
            <a:ext cx="37764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315468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 s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88620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mean error on the start time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63840" y="4572000"/>
            <a:ext cx="37764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470916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544068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false alarms (14.5 per hour)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Error analysis: sensitive, but too many short false alarms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463040"/>
            <a:ext cx="478231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40880" y="160020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False positives: 195 windows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01168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79% are in one recording, often just before or after a real seizure.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0" y="3017520"/>
            <a:ext cx="478231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0" y="315468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Short false alarms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56616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of the 21 false alarms last 2 s or less; real seizures last at least 3 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4572000"/>
            <a:ext cx="47823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470916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False negatives: 68 windows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5120640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69% are in one recording: a seizure found but only half covered. No seizure is missed.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Improvements: what we did and what comes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Implemented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Frequency-band features: best classical F1 from 0.49 to 0.72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Three balancing strategies on the training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window sizes compared (1 s and 2 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Hyperparameters and threshold tuned on 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Deep learning: 1D-CNN and LSTM on sequences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4630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Proposed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965960"/>
            <a:ext cx="5376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Reject detections shorter than a minimum duration: removes over half of the false alarms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Filter the 50 Hz interference and normalise each recording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Features aimed at the 3 Hz discharge (2.5 to 4 Hz band)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 redundant features (Variance, Energy)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recordings, with patient identifiers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800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 → 0.72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532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best classical F1 after adding band powers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466344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4800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5532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raw signal variance is 50 Hz interference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663440"/>
            <a:ext cx="35935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800600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of 21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553212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false alarms last 2 s or less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Conclusion</a:t>
            </a:r>
            <a:endParaRPr lang="en-US" sz="4200" dirty="0"/>
          </a:p>
        </p:txBody>
      </p:sp>
      <p:sp>
        <p:nvSpPr>
          <p:cNvPr id="3" name="Conclusion points"/>
          <p:cNvSpPr txBox="1"/>
          <p:nvPr/>
        </p:nvSpPr>
        <p:spPr>
          <a:xfrm>
            <a:off x="548640" y="29718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A complete chain from raw EEG to seizure intervals, with an application and a reproducible pipeline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Frequency features and an honest evaluation protocol mattered more than the choice of model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All 12 test seizures detected, at the price of 14 false alarms per hour: an aid for the clinician, not yet an autonomous detector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Limits: 12 test seizures, no patient identifier, small hyperparameter search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966960" y="731520"/>
            <a:ext cx="1463040" cy="1463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0" y="731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12/12</a:t>
            </a:r>
            <a:endParaRPr lang="en-US" sz="2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3931920"/>
            <a:ext cx="8778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EG Seizure Detection">
  <a:themeElements>
    <a:clrScheme name="EEG Seizure Detection">
      <a:dk1>
        <a:srgbClr val="12232E"/>
      </a:dk1>
      <a:lt1>
        <a:srgbClr val="FFFFFF"/>
      </a:lt1>
      <a:dk2>
        <a:srgbClr val="0B4F63"/>
      </a:dk2>
      <a:lt2>
        <a:srgbClr val="EEF4F6"/>
      </a:lt2>
      <a:accent1>
        <a:srgbClr val="0B6E8A"/>
      </a:accent1>
      <a:accent2>
        <a:srgbClr val="EB6834"/>
      </a:accent2>
      <a:accent3>
        <a:srgbClr val="2A78D6"/>
      </a:accent3>
      <a:accent4>
        <a:srgbClr val="D03B3B"/>
      </a:accent4>
      <a:accent5>
        <a:srgbClr val="1BAF7A"/>
      </a:accent5>
      <a:accent6>
        <a:srgbClr val="6B7780"/>
      </a:accent6>
      <a:hlink>
        <a:srgbClr val="0B6E8A"/>
      </a:hlink>
      <a:folHlink>
        <a:srgbClr val="6B7780"/>
      </a:folHlink>
    </a:clrScheme>
    <a:fontScheme name="EEG Seizure Detec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ENIT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Detection of Absence Seizures from EEG Signals</dc:title>
  <dc:subject>PptxGenJS Presentation</dc:subject>
  <dc:creator>Yahya Houimdi, Brahim Elmi</dc:creator>
  <cp:lastModifiedBy>Yahya Houimdi, Brahim Elmi</cp:lastModifiedBy>
  <cp:revision>1</cp:revision>
  <dcterms:created xsi:type="dcterms:W3CDTF">2026-10-12T15:44:26Z</dcterms:created>
  <dcterms:modified xsi:type="dcterms:W3CDTF">2026-10-12T15:44:26Z</dcterms:modified>
</cp:coreProperties>
</file>